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6.png"/><Relationship Id="rId7" Type="http://schemas.openxmlformats.org/officeDocument/2006/relationships/image" Target="../media/image-9-2.png"/><Relationship Id="rId8" Type="http://schemas.openxmlformats.org/officeDocument/2006/relationships/image" Target="../media/image-9-2.png"/><Relationship Id="rId9" Type="http://schemas.openxmlformats.org/officeDocument/2006/relationships/image" Target="../media/image-9-2.png"/><Relationship Id="rId10" Type="http://schemas.openxmlformats.org/officeDocument/2006/relationships/image" Target="../media/image-9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2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8.png"/><Relationship Id="rId10" Type="http://schemas.openxmlformats.org/officeDocument/2006/relationships/image" Target="../media/image-10-8.png"/><Relationship Id="rId11" Type="http://schemas.openxmlformats.org/officeDocument/2006/relationships/image" Target="../media/image-10-8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1F3A63"/>
          </a:solidFill>
          <a:ln/>
        </p:spPr>
      </p:sp>
      <p:pic>
        <p:nvPicPr>
          <p:cNvPr id="4" name="Image 0" descr="icons/cloud_E8720C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281160" y="685800"/>
            <a:ext cx="1828800" cy="1828800"/>
          </a:xfrm>
          <a:prstGeom prst="rect">
            <a:avLst/>
          </a:prstGeom>
        </p:spPr>
      </p:pic>
      <p:pic>
        <p:nvPicPr>
          <p:cNvPr id="5" name="Image 1" descr="icons/brain_FFFFFF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829800" y="2606040"/>
            <a:ext cx="1280160" cy="1280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3RD YEAR  •  IILM UNIVERSITY, GREATER NOIDA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94360" y="1874520"/>
            <a:ext cx="8503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Virtual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64008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• EduSkills • National Internship Portal  |  Curriculum by AWS Academy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572000"/>
            <a:ext cx="2926080" cy="0"/>
          </a:xfrm>
          <a:prstGeom prst="line">
            <a:avLst/>
          </a:prstGeom>
          <a:noFill/>
          <a:ln w="25400">
            <a:solidFill>
              <a:srgbClr val="E8720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Shukla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– August 2026 (8 Weeks)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2024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Internship Programme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473952" y="192024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160020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Internship Snapshot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3375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Learning Journey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3952" y="33375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301752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— Generative AI &amp; AWS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75488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43484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Acquired &amp; Experience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3952" y="475488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443484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Certificate &amp; Conclusion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Internship Programme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8-week, self-paced virtual internship launched on the National Internship Portal by AICTE and EduSkills under the Ministry of Education, with technical curriculum delivered by AWS Academy — designed to build industry-ready Generative AI skills.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13294B"/>
          </a:solidFill>
          <a:ln/>
        </p:spPr>
      </p:sp>
      <p:pic>
        <p:nvPicPr>
          <p:cNvPr id="6" name="Image 0" descr="icons/gradcap_E872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94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794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classroom learning and industry-standard cloud &amp; AI practice, boosting employability for engineering students across India.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15087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A"/>
          </a:solidFill>
          <a:ln/>
        </p:spPr>
      </p:sp>
      <p:pic>
        <p:nvPicPr>
          <p:cNvPr id="10" name="Image 1" descr="icons/cloud_13294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7647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45352" y="2331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Academy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27157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partner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823960" y="15087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A"/>
          </a:solidFill>
          <a:ln/>
        </p:spPr>
      </p:sp>
      <p:pic>
        <p:nvPicPr>
          <p:cNvPr id="14" name="Image 2" descr="icons/gradcap_13294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2" y="176479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79992" y="2331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AICTE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9079992" y="27157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989320" y="365760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A"/>
          </a:solidFill>
          <a:ln/>
        </p:spPr>
      </p:sp>
      <p:pic>
        <p:nvPicPr>
          <p:cNvPr id="18" name="Image 3" descr="icons/book_13294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91363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45352" y="4480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EduSkills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245352" y="48646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 Building Through Skills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823960" y="365760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A"/>
          </a:solidFill>
          <a:ln/>
        </p:spPr>
      </p:sp>
      <p:pic>
        <p:nvPicPr>
          <p:cNvPr id="22" name="Image 4" descr="icons/laptop_13294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2" y="391363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79992" y="4480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NIP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079992" y="48646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the Internship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6" name="Image 0" descr="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strong conceptual foundation in AI, ML &amp; Generative AI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10" name="Image 1" descr="icon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69164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AWS cloud services for Gen AI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14" name="Image 2" descr="icons/targ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4787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227832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LLM &amp; foundation-model architecture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17920" y="309067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46520" y="3456432"/>
            <a:ext cx="457200" cy="4572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18" name="Image 3" descr="icons/targ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54787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3227832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practical prompt-engineering techniques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462686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992624"/>
            <a:ext cx="457200" cy="4572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22" name="Image 4" descr="icons/targ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8406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764024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real-world Gen AI use cases across industries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217920" y="462686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46520" y="4992624"/>
            <a:ext cx="457200" cy="4572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26" name="Image 5" descr="icons/targe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5084064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4764024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employability with an industry-recognized credential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011680"/>
            <a:ext cx="914400" cy="9144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6" name="Image 0" descr="icons/calend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21284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Weeks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– August 2026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/>
        </p:spPr>
      </p:sp>
      <p:sp>
        <p:nvSpPr>
          <p:cNvPr id="10" name="Shape 7"/>
          <p:cNvSpPr/>
          <p:nvPr/>
        </p:nvSpPr>
        <p:spPr>
          <a:xfrm>
            <a:off x="4256532" y="2011680"/>
            <a:ext cx="914400" cy="9144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11" name="Image 1" descr="icons/clou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21284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Academy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3547872" y="3703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Partner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/>
        </p:spPr>
      </p:sp>
      <p:sp>
        <p:nvSpPr>
          <p:cNvPr id="15" name="Shape 11"/>
          <p:cNvSpPr/>
          <p:nvPr/>
        </p:nvSpPr>
        <p:spPr>
          <a:xfrm>
            <a:off x="7118604" y="2011680"/>
            <a:ext cx="914400" cy="9144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16" name="Image 2" descr="icons/lapto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221284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409944" y="3703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Mode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0676" y="2011680"/>
            <a:ext cx="914400" cy="91440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21" name="Image 3" descr="icons/aw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844" y="221284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O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9272016" y="3703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(90–100)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under the National Internship Portal by AICTE, Ministry of Education &amp; EduSkills  |  Student ID: STU69d4b89ed8e141775548574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8-Week Learning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468880"/>
            <a:ext cx="10424160" cy="0"/>
          </a:xfrm>
          <a:prstGeom prst="line">
            <a:avLst/>
          </a:prstGeom>
          <a:noFill/>
          <a:ln w="25400">
            <a:solidFill>
              <a:srgbClr val="1F3A6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77340" y="2194560"/>
            <a:ext cx="548640" cy="548640"/>
          </a:xfrm>
          <a:prstGeom prst="ellipse">
            <a:avLst/>
          </a:prstGeom>
          <a:solidFill>
            <a:srgbClr val="E8720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6" name="Image 0" descr="icons/clou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2340864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971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1363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4107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AI Foundations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9776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infrastructure, EC2, S3, IAM, intro to AI/ML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9412" y="2194560"/>
            <a:ext cx="548640" cy="548640"/>
          </a:xfrm>
          <a:prstGeom prst="ellipse">
            <a:avLst/>
          </a:prstGeom>
          <a:solidFill>
            <a:srgbClr val="E8720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" name="Image 1" descr="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8" y="2340864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10712" y="2971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593592" y="31363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93592" y="34107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Deep Learning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93592" y="39776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paradigms, neural networks, Amazon SageMaker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01484" y="2194560"/>
            <a:ext cx="548640" cy="548640"/>
          </a:xfrm>
          <a:prstGeom prst="ellipse">
            <a:avLst/>
          </a:prstGeom>
          <a:solidFill>
            <a:srgbClr val="E8720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8" name="Image 2" descr="icons/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340864"/>
            <a:ext cx="292608" cy="29260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72784" y="2971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455664" y="31363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55664" y="34107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&amp; LLMs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455664" y="39776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models, transformers, Amazon Bedrock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163556" y="2194560"/>
            <a:ext cx="548640" cy="548640"/>
          </a:xfrm>
          <a:prstGeom prst="ellipse">
            <a:avLst/>
          </a:prstGeom>
          <a:solidFill>
            <a:srgbClr val="E8720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4" name="Image 3" descr="icons/rock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2" y="2340864"/>
            <a:ext cx="292608" cy="29260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134856" y="2971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317736" y="31363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317736" y="34107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Gen AI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317736" y="39776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engineering, Responsible AI, capstone labs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 — Generative AI &amp; LLMs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icons/brain_E872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pre-trained models adaptable to many downstream tasks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1" name="Image 1" descr="icons/robot_E8720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9842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&amp; LLMs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49224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architecture behind modern language models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icons/cogs_E8720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3616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06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&amp; Embeddings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text into numerical representations models can process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0624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1" name="Image 3" descr="icons/comments_E8720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616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06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492240" y="49834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few-shot &amp; chain-of-thought techniques for better outputs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Services Explored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1F3A63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1965960"/>
            <a:ext cx="731520" cy="73152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6" name="Image 0" descr="icons/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1305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8803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EC2, S3 &amp; IAM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compute, storage &amp; access-management fundamentals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1F3A63"/>
          </a:solidFill>
          <a:ln/>
        </p:spPr>
      </p:sp>
      <p:sp>
        <p:nvSpPr>
          <p:cNvPr id="10" name="Shape 7"/>
          <p:cNvSpPr/>
          <p:nvPr/>
        </p:nvSpPr>
        <p:spPr>
          <a:xfrm>
            <a:off x="4347972" y="1965960"/>
            <a:ext cx="731520" cy="73152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11" name="Image 1" descr="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21305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8803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SageMaker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93592" y="35204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training &amp; deploying machine-learning models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1F3A63"/>
          </a:solidFill>
          <a:ln/>
        </p:spPr>
      </p:sp>
      <p:sp>
        <p:nvSpPr>
          <p:cNvPr id="15" name="Shape 11"/>
          <p:cNvSpPr/>
          <p:nvPr/>
        </p:nvSpPr>
        <p:spPr>
          <a:xfrm>
            <a:off x="7210044" y="1965960"/>
            <a:ext cx="731520" cy="73152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16" name="Image 2" descr="icons/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636" y="213055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28803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55664" y="35204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to foundation models for Generative AI apps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1F3A6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72116" y="1965960"/>
            <a:ext cx="731520" cy="73152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21" name="Image 3" descr="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708" y="213055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9448" y="28803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Tools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17736" y="35204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bias-mitigation &amp; data-privacy guardrails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Responsible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pic>
        <p:nvPicPr>
          <p:cNvPr id="5" name="Image 0" descr="icons/comments_1329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Techniques</a:t>
            </a:r>
            <a:endParaRPr lang="en-US" sz="1600" dirty="0"/>
          </a:p>
        </p:txBody>
      </p:sp>
      <p:pic>
        <p:nvPicPr>
          <p:cNvPr id="7" name="Image 1" descr="icons/check_E8720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604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514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 for direct instructions</a:t>
            </a:r>
            <a:endParaRPr lang="en-US" sz="1350" dirty="0"/>
          </a:p>
        </p:txBody>
      </p:sp>
      <p:pic>
        <p:nvPicPr>
          <p:cNvPr id="9" name="Image 2" descr="icons/check_E8720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200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using guided examples</a:t>
            </a:r>
            <a:endParaRPr lang="en-US" sz="1350" dirty="0"/>
          </a:p>
        </p:txBody>
      </p:sp>
      <p:pic>
        <p:nvPicPr>
          <p:cNvPr id="11" name="Image 3" descr="icons/check_E8720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77640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8862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 for reasoning tasks</a:t>
            </a:r>
            <a:endParaRPr lang="en-US" sz="1350" dirty="0"/>
          </a:p>
        </p:txBody>
      </p:sp>
      <p:pic>
        <p:nvPicPr>
          <p:cNvPr id="13" name="Image 4" descr="icons/check_E8720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63440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572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prompt refinement for accuracy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6263640" y="15544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pic>
        <p:nvPicPr>
          <p:cNvPr id="16" name="Image 5" descr="icons/shield_13294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828800"/>
            <a:ext cx="502920" cy="5029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223760" y="1828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Principles</a:t>
            </a:r>
            <a:endParaRPr lang="en-US" sz="1600" dirty="0"/>
          </a:p>
        </p:txBody>
      </p:sp>
      <p:pic>
        <p:nvPicPr>
          <p:cNvPr id="18" name="Image 6" descr="icons/check_E8720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60604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949440" y="2514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 mitigation in model outputs</a:t>
            </a:r>
            <a:endParaRPr lang="en-US" sz="1350" dirty="0"/>
          </a:p>
        </p:txBody>
      </p:sp>
      <p:pic>
        <p:nvPicPr>
          <p:cNvPr id="20" name="Image 7" descr="icons/check_E8720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291840"/>
            <a:ext cx="256032" cy="2560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949440" y="3200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in how models generate content</a:t>
            </a:r>
            <a:endParaRPr lang="en-US" sz="1350" dirty="0"/>
          </a:p>
        </p:txBody>
      </p:sp>
      <p:pic>
        <p:nvPicPr>
          <p:cNvPr id="22" name="Image 8" descr="icons/check_E8720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977640"/>
            <a:ext cx="256032" cy="25603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949440" y="38862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security safeguards</a:t>
            </a:r>
            <a:endParaRPr lang="en-US" sz="1350" dirty="0"/>
          </a:p>
        </p:txBody>
      </p:sp>
      <p:pic>
        <p:nvPicPr>
          <p:cNvPr id="24" name="Image 9" descr="icons/check_E8720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4663440"/>
            <a:ext cx="256032" cy="256032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949440" y="4572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in deployment decisions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27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Acquired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3294B"/>
          </a:solidFill>
          <a:ln/>
        </p:spPr>
      </p:sp>
      <p:pic>
        <p:nvPicPr>
          <p:cNvPr id="5" name="Image 0" descr="icons/cogs_E872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Skills</a:t>
            </a:r>
            <a:endParaRPr lang="en-US" sz="1800" dirty="0"/>
          </a:p>
        </p:txBody>
      </p:sp>
      <p:pic>
        <p:nvPicPr>
          <p:cNvPr id="7" name="Image 1" descr="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604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50545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fundamentals &amp; core AWS services</a:t>
            </a:r>
            <a:endParaRPr lang="en-US" sz="1250" dirty="0"/>
          </a:p>
        </p:txBody>
      </p:sp>
      <p:pic>
        <p:nvPicPr>
          <p:cNvPr id="9" name="Image 2" descr="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09981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deep learning concepts</a:t>
            </a:r>
            <a:endParaRPr lang="en-US" sz="1250" dirty="0"/>
          </a:p>
        </p:txBody>
      </p:sp>
      <p:pic>
        <p:nvPicPr>
          <p:cNvPr id="11" name="Image 3" descr="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369417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AI, LLMs &amp; foundation models</a:t>
            </a:r>
            <a:endParaRPr lang="en-US" sz="1250" dirty="0"/>
          </a:p>
        </p:txBody>
      </p:sp>
      <p:pic>
        <p:nvPicPr>
          <p:cNvPr id="13" name="Image 4" descr="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89120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428853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&amp; SageMaker exposure</a:t>
            </a:r>
            <a:endParaRPr lang="en-US" sz="1250" dirty="0"/>
          </a:p>
        </p:txBody>
      </p:sp>
      <p:pic>
        <p:nvPicPr>
          <p:cNvPr id="15" name="Image 5" descr="icons/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983480"/>
            <a:ext cx="219456" cy="2194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8720" y="488289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prompt-engineering techniques</a:t>
            </a:r>
            <a:endParaRPr lang="en-US" sz="1250" dirty="0"/>
          </a:p>
        </p:txBody>
      </p:sp>
      <p:sp>
        <p:nvSpPr>
          <p:cNvPr id="17" name="Shape 9"/>
          <p:cNvSpPr/>
          <p:nvPr/>
        </p:nvSpPr>
        <p:spPr>
          <a:xfrm>
            <a:off x="626364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6FA"/>
          </a:solidFill>
          <a:ln/>
        </p:spPr>
      </p:sp>
      <p:pic>
        <p:nvPicPr>
          <p:cNvPr id="18" name="Image 6" descr="icons/users_13294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1828800"/>
            <a:ext cx="548640" cy="54864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26948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</a:t>
            </a:r>
            <a:endParaRPr lang="en-US" sz="1800" dirty="0"/>
          </a:p>
        </p:txBody>
      </p:sp>
      <p:pic>
        <p:nvPicPr>
          <p:cNvPr id="20" name="Image 7" descr="icons/check_E8720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2606040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903720" y="250545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learning in a virtual environment</a:t>
            </a:r>
            <a:endParaRPr lang="en-US" sz="1250" dirty="0"/>
          </a:p>
        </p:txBody>
      </p:sp>
      <p:pic>
        <p:nvPicPr>
          <p:cNvPr id="22" name="Image 8" descr="icons/check_E8720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200400"/>
            <a:ext cx="219456" cy="2194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903720" y="309981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across academics &amp; internship</a:t>
            </a:r>
            <a:endParaRPr lang="en-US" sz="1250" dirty="0"/>
          </a:p>
        </p:txBody>
      </p:sp>
      <p:pic>
        <p:nvPicPr>
          <p:cNvPr id="24" name="Image 9" descr="icons/check_E8720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3794760"/>
            <a:ext cx="219456" cy="21945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903720" y="369417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&amp; problem-solving mindset</a:t>
            </a:r>
            <a:endParaRPr lang="en-US" sz="1250" dirty="0"/>
          </a:p>
        </p:txBody>
      </p:sp>
      <p:pic>
        <p:nvPicPr>
          <p:cNvPr id="26" name="Image 10" descr="icons/check_E8720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4389120"/>
            <a:ext cx="219456" cy="219456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903720" y="428853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&amp; report writing</a:t>
            </a:r>
            <a:endParaRPr lang="en-US" sz="1250" dirty="0"/>
          </a:p>
        </p:txBody>
      </p:sp>
      <p:sp>
        <p:nvSpPr>
          <p:cNvPr id="28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29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Experience &amp; 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pic>
        <p:nvPicPr>
          <p:cNvPr id="5" name="Image 0" descr="icons/bulb_E872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self-paced format allowed flexibility to balance semester coursework with internship modules. Hands-on labs with Amazon Bedrock made abstract concepts like transformers and embeddings concrete, offering an industry-relevant, cloud-native perspective on Generative AI.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34455">
                <a:alpha val="12000"/>
              </a:srgbClr>
            </a:outerShdw>
          </a:effectLst>
        </p:spPr>
      </p:sp>
      <p:pic>
        <p:nvPicPr>
          <p:cNvPr id="9" name="Image 1" descr="icons/warning_E8720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583680" y="2606040"/>
            <a:ext cx="128016" cy="12801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0" y="2377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to AWS console &amp; cloud terminology initially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583680" y="3383280"/>
            <a:ext cx="128016" cy="12801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0" y="3154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Grasping the math behind transformer models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583680" y="4160520"/>
            <a:ext cx="128016" cy="12801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0" y="39319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internship work with semester deadlines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83680" y="4983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 through consistent lab practice, revisiting AWS Academy material, and peer discussion.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&amp; Graded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005840" cy="100584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6" name="Image 0" descr="icons/aw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60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Secured: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– Outstanding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724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band: 90–100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46888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4bdcb582a40842610707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46888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STU69d4b89ed8e141775548574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4937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468880" y="4937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EduSkills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5532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468880" y="5532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</a:t>
            </a:r>
            <a:endParaRPr lang="en-US" sz="1250" dirty="0"/>
          </a:p>
        </p:txBody>
      </p:sp>
      <p:pic>
        <p:nvPicPr>
          <p:cNvPr id="17" name="Image 1" descr="certimg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415" y="411480"/>
            <a:ext cx="4269442" cy="6035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F3A63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148840"/>
            <a:ext cx="822960" cy="82296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6" name="Image 0" descr="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 from cloud basics to applied Generative AI in 8 weeks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F3A63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148840"/>
            <a:ext cx="822960" cy="82296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11" name="Image 1" descr="icons/aw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Recognized Outcome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with an Outstanding grade &amp; industry-backed certification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F3A63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900" y="2148840"/>
            <a:ext cx="822960" cy="82296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16" name="Image 2" descr="icons/rock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0" y="23317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Future-Ready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confidence to pursue further Gen AI projects &amp; career goals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Virtual Internship  |  Harshit Shukla, IILM University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029200" cy="5029200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394960" y="3429000"/>
            <a:ext cx="1371600" cy="0"/>
          </a:xfrm>
          <a:prstGeom prst="line">
            <a:avLst/>
          </a:prstGeom>
          <a:noFill/>
          <a:ln w="31750">
            <a:solidFill>
              <a:srgbClr val="E872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Shukla  |  B.Tech 3rd Year  |  IILM University, Greater Noida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2026-08-29T13:24:25Z</dcterms:created>
  <dcterms:modified xsi:type="dcterms:W3CDTF">2026-08-29T13:24:25Z</dcterms:modified>
</cp:coreProperties>
</file>